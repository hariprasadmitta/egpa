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1B2E"/>
          </a:solidFill>
          <a:ln/>
        </p:spPr>
      </p:sp>
      <p:sp>
        <p:nvSpPr>
          <p:cNvPr id="3" name="Shape 1"/>
          <p:cNvSpPr/>
          <p:nvPr/>
        </p:nvSpPr>
        <p:spPr>
          <a:xfrm>
            <a:off x="8686800" y="-1828800"/>
            <a:ext cx="6400800" cy="6400800"/>
          </a:xfrm>
          <a:prstGeom prst="ellipse">
            <a:avLst/>
          </a:prstGeom>
          <a:solidFill>
            <a:srgbClr val="0A2A43">
              <a:alpha val="6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2286000" y="4114800"/>
            <a:ext cx="5486400" cy="5486400"/>
          </a:xfrm>
          <a:prstGeom prst="ellipse">
            <a:avLst/>
          </a:prstGeom>
          <a:solidFill>
            <a:srgbClr val="1A9C94">
              <a:alpha val="12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103120"/>
            <a:ext cx="91440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EGPA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868680" y="32461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1A9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GOVERNANCE PLATFORM FOR AI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68680" y="388620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real, working control plane — problem statement to governed, running agent, with enforced sign-off and a runtime kill-switch at every stage.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68680" y="5760720"/>
            <a:ext cx="2011680" cy="0"/>
          </a:xfrm>
          <a:prstGeom prst="line">
            <a:avLst/>
          </a:prstGeom>
          <a:noFill/>
          <a:ln w="31750">
            <a:solidFill>
              <a:srgbClr val="1A9C9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58978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&amp; Architecture Overview  ·  August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A9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Governance can't keep up with how fast teams want to build AI agents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3566160" cy="3291840"/>
          </a:xfrm>
          <a:prstGeom prst="roundRect">
            <a:avLst>
              <a:gd name="adj" fmla="val 3333"/>
            </a:avLst>
          </a:prstGeom>
          <a:solidFill>
            <a:srgbClr val="F3F6F8"/>
          </a:solidFill>
          <a:ln/>
          <a:effectLst>
            <a:outerShdw sx="100000" sy="100000" kx="0" ky="0" algn="bl" rotWithShape="0" blurRad="127000" dist="38100" dir="5400000">
              <a:srgbClr val="1A2A3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51460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0A2A43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514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68680" y="320040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vs. review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68680" y="3749040"/>
            <a:ext cx="29260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units want to build agents fast, in whatever framework fits — central risk teams can't review that volume by hand.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434840" y="2148840"/>
            <a:ext cx="3566160" cy="3291840"/>
          </a:xfrm>
          <a:prstGeom prst="roundRect">
            <a:avLst>
              <a:gd name="adj" fmla="val 3333"/>
            </a:avLst>
          </a:prstGeom>
          <a:solidFill>
            <a:srgbClr val="F3F6F8"/>
          </a:solidFill>
          <a:ln/>
          <a:effectLst>
            <a:outerShdw sx="100000" sy="100000" kx="0" ky="0" algn="bl" rotWithShape="0" blurRad="127000" dist="38100" dir="5400000">
              <a:srgbClr val="1A2A3A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251460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0A2A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2514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754880" y="320040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enforceable record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754880" y="3749040"/>
            <a:ext cx="29260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wiki page or a Slack approval thread leaves nothing that proves, after the fact, a control was actually satisfied.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321040" y="2148840"/>
            <a:ext cx="3566160" cy="3291840"/>
          </a:xfrm>
          <a:prstGeom prst="roundRect">
            <a:avLst>
              <a:gd name="adj" fmla="val 3333"/>
            </a:avLst>
          </a:prstGeom>
          <a:solidFill>
            <a:srgbClr val="F3F6F8"/>
          </a:solidFill>
          <a:ln/>
          <a:effectLst>
            <a:outerShdw sx="100000" sy="100000" kx="0" ky="0" algn="bl" rotWithShape="0" blurRad="127000" dist="38100" dir="5400000">
              <a:srgbClr val="1A2A3A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641080" y="251460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0A2A43"/>
          </a:solidFill>
          <a:ln/>
        </p:spPr>
      </p:sp>
      <p:sp>
        <p:nvSpPr>
          <p:cNvPr id="16" name="Text 14"/>
          <p:cNvSpPr/>
          <p:nvPr/>
        </p:nvSpPr>
        <p:spPr>
          <a:xfrm>
            <a:off x="8641080" y="2514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641080" y="320040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bad outcomes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641080" y="3749040"/>
            <a:ext cx="29260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Either governance becomes a bottleneck teams build around, or it stays paper-thin and doesn't survive an audit.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EGPA — Enterprise Governance Platform for AI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A9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ARRIVED AT EGPA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discovery and validation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follows is the reasoning that precedes the product — included so the decision is auditable, not just the outcome.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5394960" cy="4023360"/>
          </a:xfrm>
          <a:prstGeom prst="roundRect">
            <a:avLst>
              <a:gd name="adj" fmla="val 2273"/>
            </a:avLst>
          </a:prstGeom>
          <a:solidFill>
            <a:srgbClr val="F3F6F8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28600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1A9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WE'D TALK TO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68680" y="2743200"/>
            <a:ext cx="47548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Architecture &amp; platform engineering
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who own whatever gets built
</a:t>
            </a:r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Compliance &amp; Legal
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who own what "acceptable" means
</a:t>
            </a:r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Business-unit technology leads
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who own the actual demand
</a:t>
            </a:r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GRC/ITSM platform owners, and a real sample of requesters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7920" y="2057400"/>
            <a:ext cx="5394960" cy="4023360"/>
          </a:xfrm>
          <a:prstGeom prst="roundRect">
            <a:avLst>
              <a:gd name="adj" fmla="val 2273"/>
            </a:avLst>
          </a:prstGeom>
          <a:solidFill>
            <a:srgbClr val="0A2A43"/>
          </a:solidFill>
          <a:ln/>
        </p:spPr>
      </p:sp>
      <p:sp>
        <p:nvSpPr>
          <p:cNvPr id="9" name="Text 7"/>
          <p:cNvSpPr/>
          <p:nvPr/>
        </p:nvSpPr>
        <p:spPr>
          <a:xfrm>
            <a:off x="6537960" y="228600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80" kern="0" dirty="0">
                <a:solidFill>
                  <a:srgbClr val="1A9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ASSUMPTIONS TO TEST BEFORE CONFIRMING ANY SOLUTION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537960" y="2880360"/>
            <a:ext cx="475488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lnSpc>
                <a:spcPct val="160000"/>
              </a:lnSpc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GRC/ITSM genuinely can't absorb AI-specific risk without disproportionate custom work
</a:t>
            </a:r>
            <a:pPr indent="0" marL="0">
              <a:lnSpc>
                <a:spcPct val="16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volume genuinely exceeds what manual review can sustain
</a:t>
            </a:r>
            <a:pPr indent="0" marL="0">
              <a:lnSpc>
                <a:spcPct val="16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units will actually route through central intake, not build around it
</a:t>
            </a:r>
            <a:pPr indent="0" marL="0">
              <a:lnSpc>
                <a:spcPct val="16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can be meaningfully computed from a questionnaire, not just expert judgment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EGPA — Enterprise Governance Platform for AI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A9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ARRIVED AT EGPA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genuinely different options — not just technologies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3566160" cy="3566160"/>
          </a:xfrm>
          <a:prstGeom prst="roundRect">
            <a:avLst>
              <a:gd name="adj" fmla="val 3077"/>
            </a:avLst>
          </a:prstGeom>
          <a:solidFill>
            <a:srgbClr val="F3F6F8"/>
          </a:solidFill>
          <a:ln/>
          <a:effectLst>
            <a:outerShdw sx="100000" sy="100000" kx="0" ky="0" algn="bl" rotWithShape="0" blurRad="127000" dist="38100" dir="5400000">
              <a:srgbClr val="1A2A3A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24231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868680" y="310896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0A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existing platforms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" y="3886200"/>
            <a:ext cx="29260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an "AI use case" request type, a risk questionnaire, and an approval workflow to whatever GRC and ITSM tooling the org already runs.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434840" y="2103120"/>
            <a:ext cx="3566160" cy="3566160"/>
          </a:xfrm>
          <a:prstGeom prst="roundRect">
            <a:avLst>
              <a:gd name="adj" fmla="val 3077"/>
            </a:avLst>
          </a:prstGeom>
          <a:solidFill>
            <a:srgbClr val="F3F6F8"/>
          </a:solidFill>
          <a:ln/>
          <a:effectLst>
            <a:outerShdw sx="100000" sy="100000" kx="0" ky="0" algn="bl" rotWithShape="0" blurRad="127000" dist="38100" dir="5400000">
              <a:srgbClr val="1A2A3A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754880" y="24231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754880" y="310896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0A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 an established product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754880" y="3886200"/>
            <a:ext cx="29260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Procure a commercial AI/model-risk-governance platform and configure it to the org's control requirements.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321040" y="2103120"/>
            <a:ext cx="3566160" cy="3566160"/>
          </a:xfrm>
          <a:prstGeom prst="roundRect">
            <a:avLst>
              <a:gd name="adj" fmla="val 3077"/>
            </a:avLst>
          </a:prstGeom>
          <a:solidFill>
            <a:srgbClr val="0A2A43"/>
          </a:solidFill>
          <a:ln/>
          <a:effectLst>
            <a:outerShdw sx="100000" sy="100000" kx="0" ky="0" algn="bl" rotWithShape="0" blurRad="127000" dist="38100" dir="5400000">
              <a:srgbClr val="1A2A3A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641080" y="24231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9C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641080" y="310896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dedicated platform (EGPA)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641080" y="3886200"/>
            <a:ext cx="29260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7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Purpose-built control plane, tailored to the org's own risk taxonomy, coupled directly to its own AI Gateway and execution substrate.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EGPA — Enterprise Governance Platform for AI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A9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ARRIVED AT EGPA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Options and trade-offs</a:t>
            </a:r>
            <a:endParaRPr lang="en-US" sz="2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7455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054096"/>
                <a:gridCol w="3054096"/>
                <a:gridCol w="3063240"/>
              </a:tblGrid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(EGPA)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43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Implementation time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Fastest — reuses an existing engine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 — vendor config + integration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Slowest to first value, sequenced on our own terms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profile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Lowest incremental — licensing sunk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Recurring license, per-seat/model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Upfront investment, no license, internal ownership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Integration complexity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Low, but AI runtime concepts aren't native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Medium-high — vendor didn't design for our Gateway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Low, by construction — built around our own stack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Flexibility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Constrained to the host platform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Configurable, but core logic is vendor-owned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Highest — shaped exactly to the org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Regulatory control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General-purpose control language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Compliance-aware, but generic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Highest — maps to specific regulation (roadmap item)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Scalability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built for real-time runtime supervision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Bound to vendor's own AI roadmap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Purpose-built for kill-switch/streaming/audit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EGPA — Enterprise Governance Platform for AI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A9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ARRIVED AT EGPA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build wins, and when it doesn't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5394960" cy="4114800"/>
          </a:xfrm>
          <a:prstGeom prst="roundRect">
            <a:avLst>
              <a:gd name="adj" fmla="val 2222"/>
            </a:avLst>
          </a:prstGeom>
          <a:solidFill>
            <a:srgbClr val="0F3A56"/>
          </a:solidFill>
          <a:ln w="12700">
            <a:solidFill>
              <a:srgbClr val="1A9C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21945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1A9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EGPA WHEN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651760"/>
            <a:ext cx="47548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lnSpc>
                <a:spcPct val="150000"/>
              </a:lnSpc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enforcement is a hard requirement — a kill-switch that actually halts execution, live tool-call auditing
</a:t>
            </a:r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org already runs its own AI Gateway that governance needs to couple tightly to
</a:t>
            </a:r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risk taxonomy is specific enough that a generic product's ceiling is hit fast
</a:t>
            </a:r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genuine, sustained capacity to build and maintain it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17920" y="1965960"/>
            <a:ext cx="5394960" cy="4114800"/>
          </a:xfrm>
          <a:prstGeom prst="roundRect">
            <a:avLst>
              <a:gd name="adj" fmla="val 2222"/>
            </a:avLst>
          </a:prstGeom>
          <a:solidFill>
            <a:srgbClr val="0A2A43"/>
          </a:solidFill>
          <a:ln w="12700">
            <a:solidFill>
              <a:srgbClr val="1E4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7960" y="21945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 OR EXTEND WHEN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37960" y="2651760"/>
            <a:ext cx="47548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lnSpc>
                <a:spcPct val="150000"/>
              </a:lnSpc>
              <a:buSzPct val="100000"/>
              <a:buChar char="•"/>
            </a:pPr>
            <a:r>
              <a:rPr lang="en-US" sz="1250" dirty="0">
                <a:solidFill>
                  <a:srgbClr val="C7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initiatives are early-stage or low-volume — a lightweight extension is enough
</a:t>
            </a:r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C7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no in-house AI Gateway yet — nothing for a build to attach to
</a:t>
            </a:r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C7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to basic governance matters more than depth
</a:t>
            </a:r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C7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org lacks sustained platform-engineering capacity to maintain a bespoke system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EGPA — Enterprise Governance Platform for AI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A9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ARRIVED AT EGPA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incremental path, not a big-bang cutover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11274552" cy="0"/>
          </a:xfrm>
          <a:prstGeom prst="line">
            <a:avLst/>
          </a:prstGeom>
          <a:noFill/>
          <a:ln w="19050">
            <a:solidFill>
              <a:srgbClr val="D5DE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99362" y="1609344"/>
            <a:ext cx="438912" cy="438912"/>
          </a:xfrm>
          <a:prstGeom prst="ellipse">
            <a:avLst/>
          </a:prstGeom>
          <a:solidFill>
            <a:srgbClr val="6B728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9362" y="160934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240280"/>
            <a:ext cx="2123237" cy="3291840"/>
          </a:xfrm>
          <a:prstGeom prst="roundRect">
            <a:avLst>
              <a:gd name="adj" fmla="val 3445"/>
            </a:avLst>
          </a:prstGeom>
          <a:solidFill>
            <a:srgbClr val="F3F6F8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2395728"/>
            <a:ext cx="1903781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A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state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85216" y="3108960"/>
            <a:ext cx="1867205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hoc AI use cases, informal approvals, no consistent audit trail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587191" y="1609344"/>
            <a:ext cx="438912" cy="438912"/>
          </a:xfrm>
          <a:prstGeom prst="ellipse">
            <a:avLst/>
          </a:prstGeom>
          <a:solidFill>
            <a:srgbClr val="1A9C9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87191" y="160934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745029" y="2240280"/>
            <a:ext cx="2123237" cy="3291840"/>
          </a:xfrm>
          <a:prstGeom prst="roundRect">
            <a:avLst>
              <a:gd name="adj" fmla="val 3445"/>
            </a:avLst>
          </a:prstGeom>
          <a:solidFill>
            <a:srgbClr val="F3F6F8"/>
          </a:solidFill>
          <a:ln/>
        </p:spPr>
      </p:sp>
      <p:sp>
        <p:nvSpPr>
          <p:cNvPr id="13" name="Text 11"/>
          <p:cNvSpPr/>
          <p:nvPr/>
        </p:nvSpPr>
        <p:spPr>
          <a:xfrm>
            <a:off x="2854757" y="2395728"/>
            <a:ext cx="1903781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A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use cases only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2873045" y="3108960"/>
            <a:ext cx="1867205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new work through EGPA alongside what exists — nothing force-migrated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875020" y="1609344"/>
            <a:ext cx="438912" cy="438912"/>
          </a:xfrm>
          <a:prstGeom prst="ellipse">
            <a:avLst/>
          </a:prstGeom>
          <a:solidFill>
            <a:srgbClr val="1A9C9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75020" y="160934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032858" y="2240280"/>
            <a:ext cx="2123237" cy="3291840"/>
          </a:xfrm>
          <a:prstGeom prst="roundRect">
            <a:avLst>
              <a:gd name="adj" fmla="val 3445"/>
            </a:avLst>
          </a:prstGeom>
          <a:solidFill>
            <a:srgbClr val="F3F6F8"/>
          </a:solidFill>
          <a:ln/>
        </p:spPr>
      </p:sp>
      <p:sp>
        <p:nvSpPr>
          <p:cNvPr id="18" name="Text 16"/>
          <p:cNvSpPr/>
          <p:nvPr/>
        </p:nvSpPr>
        <p:spPr>
          <a:xfrm>
            <a:off x="5142586" y="2395728"/>
            <a:ext cx="1903781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A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Retroactive governance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160874" y="3108960"/>
            <a:ext cx="1867205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High-risk existing use cases governed via preflight-check + reconciliation, no rebuild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162849" y="1609344"/>
            <a:ext cx="438912" cy="438912"/>
          </a:xfrm>
          <a:prstGeom prst="ellipse">
            <a:avLst/>
          </a:prstGeom>
          <a:solidFill>
            <a:srgbClr val="1A9C9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62849" y="160934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320686" y="2240280"/>
            <a:ext cx="2123237" cy="3291840"/>
          </a:xfrm>
          <a:prstGeom prst="roundRect">
            <a:avLst>
              <a:gd name="adj" fmla="val 3445"/>
            </a:avLst>
          </a:prstGeom>
          <a:solidFill>
            <a:srgbClr val="F3F6F8"/>
          </a:solidFill>
          <a:ln/>
        </p:spPr>
      </p:sp>
      <p:sp>
        <p:nvSpPr>
          <p:cNvPr id="23" name="Text 21"/>
          <p:cNvSpPr/>
          <p:nvPr/>
        </p:nvSpPr>
        <p:spPr>
          <a:xfrm>
            <a:off x="7430414" y="2395728"/>
            <a:ext cx="1903781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A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validation in-house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7448702" y="3108960"/>
            <a:ext cx="1867205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trusted, validate new builds through EGPA's own execution engine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0450678" y="1609344"/>
            <a:ext cx="438912" cy="438912"/>
          </a:xfrm>
          <a:prstGeom prst="ellipse">
            <a:avLst/>
          </a:prstGeom>
          <a:solidFill>
            <a:srgbClr val="1A9C9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450678" y="160934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9608515" y="2240280"/>
            <a:ext cx="2123237" cy="3291840"/>
          </a:xfrm>
          <a:prstGeom prst="roundRect">
            <a:avLst>
              <a:gd name="adj" fmla="val 3445"/>
            </a:avLst>
          </a:prstGeom>
          <a:solidFill>
            <a:srgbClr val="F3F6F8"/>
          </a:solidFill>
          <a:ln/>
        </p:spPr>
      </p:sp>
      <p:sp>
        <p:nvSpPr>
          <p:cNvPr id="28" name="Text 26"/>
          <p:cNvSpPr/>
          <p:nvPr/>
        </p:nvSpPr>
        <p:spPr>
          <a:xfrm>
            <a:off x="9718243" y="2395728"/>
            <a:ext cx="1903781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A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Consolidate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9736531" y="3108960"/>
            <a:ext cx="1867205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 legacy approval processes; integrate with GRC/ITSM for cross-reference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EGPA — Enterprise Governance Platform for AI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A9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EGPA 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 Plane, not Data Plane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EGPA governs how AI agents get built and run — it doesn't sit in the live traffic path itself.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5212080" cy="3566160"/>
          </a:xfrm>
          <a:prstGeom prst="roundRect">
            <a:avLst>
              <a:gd name="adj" fmla="val 3077"/>
            </a:avLst>
          </a:prstGeom>
          <a:solidFill>
            <a:srgbClr val="0A2A43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5146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1A9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PLANE — EGPA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3017520"/>
            <a:ext cx="457200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lnSpc>
                <a:spcPct val="170000"/>
              </a:lnSpc>
              <a:buSzPct val="100000"/>
              <a:buChar char="•"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templates &amp; scoring
</a:t>
            </a:r>
            <a:pPr indent="0" marL="0">
              <a:lnSpc>
                <a:spcPct val="17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workflows &amp; sign-off
</a:t>
            </a:r>
            <a:pPr indent="0" marL="0">
              <a:lnSpc>
                <a:spcPct val="17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registry
</a:t>
            </a:r>
            <a:pPr indent="0" marL="0">
              <a:lnSpc>
                <a:spcPct val="17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Decision Records
</a:t>
            </a:r>
            <a:pPr indent="0" marL="0">
              <a:lnSpc>
                <a:spcPct val="17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 &amp; kill-switch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0" y="2286000"/>
            <a:ext cx="5212080" cy="3566160"/>
          </a:xfrm>
          <a:prstGeom prst="roundRect">
            <a:avLst>
              <a:gd name="adj" fmla="val 3077"/>
            </a:avLst>
          </a:prstGeom>
          <a:solidFill>
            <a:srgbClr val="F3F6F8"/>
          </a:solidFill>
          <a:ln w="12700">
            <a:solidFill>
              <a:srgbClr val="D5DEE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0" y="25146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0A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PLANE — AI GATEWAY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766560" y="3017520"/>
            <a:ext cx="457200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lnSpc>
                <a:spcPct val="170000"/>
              </a:lnSpc>
              <a:buSzPct val="100000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Self-hosted LiteLLM Proxy
</a:t>
            </a:r>
            <a:pPr indent="0" marL="0">
              <a:lnSpc>
                <a:spcPct val="1700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Cloud Run
</a:t>
            </a:r>
            <a:pPr indent="0" marL="0">
              <a:lnSpc>
                <a:spcPct val="1700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live LLM call routes here
</a:t>
            </a:r>
            <a:pPr indent="0" marL="0">
              <a:lnSpc>
                <a:spcPct val="1700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multi-provider fallback
</a:t>
            </a:r>
            <a:pPr indent="0" marL="0">
              <a:lnSpc>
                <a:spcPct val="1700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scoped virtual key, no raw provider keys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623560" y="3886200"/>
            <a:ext cx="914400" cy="457200"/>
          </a:xfrm>
          <a:prstGeom prst="rightArrow">
            <a:avLst/>
          </a:prstGeom>
          <a:solidFill>
            <a:srgbClr val="1A9C94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EGPA — Enterprise Governance Platform for AI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A9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PIPELINE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real stages, one enforced sequence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1274552" cy="0"/>
          </a:xfrm>
          <a:prstGeom prst="line">
            <a:avLst/>
          </a:prstGeom>
          <a:noFill/>
          <a:ln w="19050">
            <a:solidFill>
              <a:srgbClr val="D5DE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0862" y="1188720"/>
            <a:ext cx="365760" cy="365760"/>
          </a:xfrm>
          <a:prstGeom prst="ellipse">
            <a:avLst/>
          </a:prstGeom>
          <a:solidFill>
            <a:srgbClr val="0A2A4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0862" y="1188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1493085" cy="1417320"/>
          </a:xfrm>
          <a:prstGeom prst="roundRect">
            <a:avLst>
              <a:gd name="adj" fmla="val 3871"/>
            </a:avLst>
          </a:prstGeom>
          <a:solidFill>
            <a:srgbClr val="F3F6F8"/>
          </a:solidFill>
          <a:ln/>
        </p:spPr>
      </p:sp>
      <p:sp>
        <p:nvSpPr>
          <p:cNvPr id="8" name="Text 6"/>
          <p:cNvSpPr/>
          <p:nvPr/>
        </p:nvSpPr>
        <p:spPr>
          <a:xfrm>
            <a:off x="530352" y="1801368"/>
            <a:ext cx="1346781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2194560"/>
            <a:ext cx="131020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chat, questions the build-an-agent default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651107" y="1188720"/>
            <a:ext cx="365760" cy="365760"/>
          </a:xfrm>
          <a:prstGeom prst="ellipse">
            <a:avLst/>
          </a:prstGeom>
          <a:solidFill>
            <a:srgbClr val="0A2A4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51107" y="1188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087445" y="1691640"/>
            <a:ext cx="1493085" cy="1417320"/>
          </a:xfrm>
          <a:prstGeom prst="roundRect">
            <a:avLst>
              <a:gd name="adj" fmla="val 3871"/>
            </a:avLst>
          </a:prstGeom>
          <a:solidFill>
            <a:srgbClr val="F3F6F8"/>
          </a:solidFill>
          <a:ln/>
        </p:spPr>
      </p:sp>
      <p:sp>
        <p:nvSpPr>
          <p:cNvPr id="13" name="Text 11"/>
          <p:cNvSpPr/>
          <p:nvPr/>
        </p:nvSpPr>
        <p:spPr>
          <a:xfrm>
            <a:off x="2160597" y="1801368"/>
            <a:ext cx="1346781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178885" y="2194560"/>
            <a:ext cx="131020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&amp; compliance profile, live risk-tier scoring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281351" y="1188720"/>
            <a:ext cx="365760" cy="365760"/>
          </a:xfrm>
          <a:prstGeom prst="ellipse">
            <a:avLst/>
          </a:prstGeom>
          <a:solidFill>
            <a:srgbClr val="0A2A4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81351" y="1188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717689" y="1691640"/>
            <a:ext cx="1493085" cy="1417320"/>
          </a:xfrm>
          <a:prstGeom prst="roundRect">
            <a:avLst>
              <a:gd name="adj" fmla="val 3871"/>
            </a:avLst>
          </a:prstGeom>
          <a:solidFill>
            <a:srgbClr val="F3F6F8"/>
          </a:solidFill>
          <a:ln/>
        </p:spPr>
      </p:sp>
      <p:sp>
        <p:nvSpPr>
          <p:cNvPr id="18" name="Text 16"/>
          <p:cNvSpPr/>
          <p:nvPr/>
        </p:nvSpPr>
        <p:spPr>
          <a:xfrm>
            <a:off x="3790841" y="1801368"/>
            <a:ext cx="1346781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809129" y="2194560"/>
            <a:ext cx="131020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LLM architecture proposal + alternatives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5911596" y="1188720"/>
            <a:ext cx="365760" cy="365760"/>
          </a:xfrm>
          <a:prstGeom prst="ellipse">
            <a:avLst/>
          </a:prstGeom>
          <a:solidFill>
            <a:srgbClr val="0A2A4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11596" y="1188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347934" y="1691640"/>
            <a:ext cx="1493085" cy="1417320"/>
          </a:xfrm>
          <a:prstGeom prst="roundRect">
            <a:avLst>
              <a:gd name="adj" fmla="val 3871"/>
            </a:avLst>
          </a:prstGeom>
          <a:solidFill>
            <a:srgbClr val="F3F6F8"/>
          </a:solidFill>
          <a:ln/>
        </p:spPr>
      </p:sp>
      <p:sp>
        <p:nvSpPr>
          <p:cNvPr id="23" name="Text 21"/>
          <p:cNvSpPr/>
          <p:nvPr/>
        </p:nvSpPr>
        <p:spPr>
          <a:xfrm>
            <a:off x="5421086" y="1801368"/>
            <a:ext cx="1346781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Gate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439374" y="2194560"/>
            <a:ext cx="131020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controls + real ARB sign-off, kill-switch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7541841" y="1188720"/>
            <a:ext cx="365760" cy="365760"/>
          </a:xfrm>
          <a:prstGeom prst="ellipse">
            <a:avLst/>
          </a:prstGeom>
          <a:solidFill>
            <a:srgbClr val="0A2A4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541841" y="1188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978178" y="1691640"/>
            <a:ext cx="1493085" cy="1417320"/>
          </a:xfrm>
          <a:prstGeom prst="roundRect">
            <a:avLst>
              <a:gd name="adj" fmla="val 3871"/>
            </a:avLst>
          </a:prstGeom>
          <a:solidFill>
            <a:srgbClr val="F3F6F8"/>
          </a:solidFill>
          <a:ln/>
        </p:spPr>
      </p:sp>
      <p:sp>
        <p:nvSpPr>
          <p:cNvPr id="28" name="Text 26"/>
          <p:cNvSpPr/>
          <p:nvPr/>
        </p:nvSpPr>
        <p:spPr>
          <a:xfrm>
            <a:off x="7051330" y="1801368"/>
            <a:ext cx="1346781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069618" y="2194560"/>
            <a:ext cx="131020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Versioned decision record, auto-assembled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9172085" y="1188720"/>
            <a:ext cx="365760" cy="365760"/>
          </a:xfrm>
          <a:prstGeom prst="ellipse">
            <a:avLst/>
          </a:prstGeom>
          <a:solidFill>
            <a:srgbClr val="DA291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72085" y="1188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8608423" y="1691640"/>
            <a:ext cx="1493085" cy="1417320"/>
          </a:xfrm>
          <a:prstGeom prst="roundRect">
            <a:avLst>
              <a:gd name="adj" fmla="val 3871"/>
            </a:avLst>
          </a:prstGeom>
          <a:solidFill>
            <a:srgbClr val="F3F6F8"/>
          </a:solidFill>
          <a:ln/>
        </p:spPr>
      </p:sp>
      <p:sp>
        <p:nvSpPr>
          <p:cNvPr id="33" name="Text 31"/>
          <p:cNvSpPr/>
          <p:nvPr/>
        </p:nvSpPr>
        <p:spPr>
          <a:xfrm>
            <a:off x="8681575" y="1801368"/>
            <a:ext cx="1346781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System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699863" y="2194560"/>
            <a:ext cx="131020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multi-agent run, streamed, real tool calls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10802330" y="1188720"/>
            <a:ext cx="365760" cy="365760"/>
          </a:xfrm>
          <a:prstGeom prst="ellipse">
            <a:avLst/>
          </a:prstGeom>
          <a:solidFill>
            <a:srgbClr val="0A2A4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802330" y="1188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10238667" y="1691640"/>
            <a:ext cx="1493085" cy="1417320"/>
          </a:xfrm>
          <a:prstGeom prst="roundRect">
            <a:avLst>
              <a:gd name="adj" fmla="val 3871"/>
            </a:avLst>
          </a:prstGeom>
          <a:solidFill>
            <a:srgbClr val="F3F6F8"/>
          </a:solidFill>
          <a:ln/>
        </p:spPr>
      </p:sp>
      <p:sp>
        <p:nvSpPr>
          <p:cNvPr id="38" name="Text 36"/>
          <p:cNvSpPr/>
          <p:nvPr/>
        </p:nvSpPr>
        <p:spPr>
          <a:xfrm>
            <a:off x="10311819" y="1801368"/>
            <a:ext cx="1346781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0330107" y="2194560"/>
            <a:ext cx="131020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Portfolio-wide real cost, usage, decision trail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457200" y="33832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A9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AN IDEA BECOMES A GOVERNED, RUNNING AGENT</a:t>
            </a:r>
            <a:endParaRPr lang="en-US" sz="1200" dirty="0"/>
          </a:p>
        </p:txBody>
      </p:sp>
      <p:pic>
        <p:nvPicPr>
          <p:cNvPr id="41" name="Image 0" descr="C:\Users\prasa\AppData\Local\Temp\claude\C--Users-prasa-Downloads-Momentum\9a4d1695-af03-42d3-8bf3-f20cd34f2dc4\scratchpad\02-discove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840480"/>
            <a:ext cx="2093976" cy="1177862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A2A3A">
                <a:alpha val="18000"/>
              </a:srgbClr>
            </a:outerShdw>
          </a:effectLst>
        </p:spPr>
      </p:pic>
      <p:sp>
        <p:nvSpPr>
          <p:cNvPr id="42" name="Shape 39"/>
          <p:cNvSpPr/>
          <p:nvPr/>
        </p:nvSpPr>
        <p:spPr>
          <a:xfrm>
            <a:off x="2560320" y="4347115"/>
            <a:ext cx="182880" cy="164592"/>
          </a:xfrm>
          <a:prstGeom prst="rightArrow">
            <a:avLst/>
          </a:prstGeom>
          <a:solidFill>
            <a:srgbClr val="1A9C94"/>
          </a:solidFill>
          <a:ln/>
        </p:spPr>
      </p:sp>
      <p:sp>
        <p:nvSpPr>
          <p:cNvPr id="43" name="Text 40"/>
          <p:cNvSpPr/>
          <p:nvPr/>
        </p:nvSpPr>
        <p:spPr>
          <a:xfrm>
            <a:off x="457200" y="5073206"/>
            <a:ext cx="20939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Idea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457200" y="5329238"/>
            <a:ext cx="20939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chat questions the build-an-agent default before anything else.</a:t>
            </a:r>
            <a:endParaRPr lang="en-US" sz="800" dirty="0"/>
          </a:p>
        </p:txBody>
      </p:sp>
      <p:pic>
        <p:nvPicPr>
          <p:cNvPr id="45" name="Image 1" descr="C:\Users\prasa\AppData\Local\Temp\claude\C--Users-prasa-Downloads-Momentum\9a4d1695-af03-42d3-8bf3-f20cd34f2dc4\scratchpad\03-recommend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2344" y="3840480"/>
            <a:ext cx="2093976" cy="1177862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A2A3A">
                <a:alpha val="18000"/>
              </a:srgbClr>
            </a:outerShdw>
          </a:effectLst>
        </p:spPr>
      </p:pic>
      <p:sp>
        <p:nvSpPr>
          <p:cNvPr id="46" name="Shape 42"/>
          <p:cNvSpPr/>
          <p:nvPr/>
        </p:nvSpPr>
        <p:spPr>
          <a:xfrm>
            <a:off x="4855464" y="4347115"/>
            <a:ext cx="182880" cy="164592"/>
          </a:xfrm>
          <a:prstGeom prst="rightArrow">
            <a:avLst/>
          </a:prstGeom>
          <a:solidFill>
            <a:srgbClr val="1A9C94"/>
          </a:solidFill>
          <a:ln/>
        </p:spPr>
      </p:sp>
      <p:sp>
        <p:nvSpPr>
          <p:cNvPr id="47" name="Text 43"/>
          <p:cNvSpPr/>
          <p:nvPr/>
        </p:nvSpPr>
        <p:spPr>
          <a:xfrm>
            <a:off x="2752344" y="5073206"/>
            <a:ext cx="20939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Use Case</a:t>
            </a:r>
            <a:endParaRPr lang="en-US" sz="1100" dirty="0"/>
          </a:p>
        </p:txBody>
      </p:sp>
      <p:sp>
        <p:nvSpPr>
          <p:cNvPr id="48" name="Text 44"/>
          <p:cNvSpPr/>
          <p:nvPr/>
        </p:nvSpPr>
        <p:spPr>
          <a:xfrm>
            <a:off x="2752344" y="5329238"/>
            <a:ext cx="20939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 creates the record; a real LLM call proposes the architecture.</a:t>
            </a:r>
            <a:endParaRPr lang="en-US" sz="800" dirty="0"/>
          </a:p>
        </p:txBody>
      </p:sp>
      <p:pic>
        <p:nvPicPr>
          <p:cNvPr id="49" name="Image 2" descr="C:\Users\prasa\AppData\Local\Temp\claude\C--Users-prasa-Downloads-Momentum\9a4d1695-af03-42d3-8bf3-f20cd34f2dc4\scratchpad\04-ga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7488" y="3840480"/>
            <a:ext cx="2093976" cy="1177862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A2A3A">
                <a:alpha val="18000"/>
              </a:srgbClr>
            </a:outerShdw>
          </a:effectLst>
        </p:spPr>
      </p:pic>
      <p:sp>
        <p:nvSpPr>
          <p:cNvPr id="50" name="Shape 45"/>
          <p:cNvSpPr/>
          <p:nvPr/>
        </p:nvSpPr>
        <p:spPr>
          <a:xfrm>
            <a:off x="7150608" y="4347115"/>
            <a:ext cx="182880" cy="164592"/>
          </a:xfrm>
          <a:prstGeom prst="rightArrow">
            <a:avLst/>
          </a:prstGeom>
          <a:solidFill>
            <a:srgbClr val="1A9C94"/>
          </a:solidFill>
          <a:ln/>
        </p:spPr>
      </p:sp>
      <p:sp>
        <p:nvSpPr>
          <p:cNvPr id="51" name="Text 46"/>
          <p:cNvSpPr/>
          <p:nvPr/>
        </p:nvSpPr>
        <p:spPr>
          <a:xfrm>
            <a:off x="5047488" y="5073206"/>
            <a:ext cx="20939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Governance Gates</a:t>
            </a:r>
            <a:endParaRPr lang="en-US" sz="1100" dirty="0"/>
          </a:p>
        </p:txBody>
      </p:sp>
      <p:sp>
        <p:nvSpPr>
          <p:cNvPr id="52" name="Text 47"/>
          <p:cNvSpPr/>
          <p:nvPr/>
        </p:nvSpPr>
        <p:spPr>
          <a:xfrm>
            <a:off x="5047488" y="5329238"/>
            <a:ext cx="20939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controls + real sign-off enforced before anything can proceed.</a:t>
            </a:r>
            <a:endParaRPr lang="en-US" sz="800" dirty="0"/>
          </a:p>
        </p:txBody>
      </p:sp>
      <p:pic>
        <p:nvPicPr>
          <p:cNvPr id="53" name="Image 3" descr="C:\Users\prasa\AppData\Local\Temp\claude\C--Users-prasa-Downloads-Momentum\9a4d1695-af03-42d3-8bf3-f20cd34f2dc4\scratchpad\05-executi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2632" y="3840480"/>
            <a:ext cx="2093976" cy="1177862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A2A3A">
                <a:alpha val="18000"/>
              </a:srgbClr>
            </a:outerShdw>
          </a:effectLst>
        </p:spPr>
      </p:pic>
      <p:sp>
        <p:nvSpPr>
          <p:cNvPr id="54" name="Shape 48"/>
          <p:cNvSpPr/>
          <p:nvPr/>
        </p:nvSpPr>
        <p:spPr>
          <a:xfrm>
            <a:off x="9445752" y="4347115"/>
            <a:ext cx="182880" cy="164592"/>
          </a:xfrm>
          <a:prstGeom prst="rightArrow">
            <a:avLst/>
          </a:prstGeom>
          <a:solidFill>
            <a:srgbClr val="1A9C94"/>
          </a:solidFill>
          <a:ln/>
        </p:spPr>
      </p:sp>
      <p:sp>
        <p:nvSpPr>
          <p:cNvPr id="55" name="Text 49"/>
          <p:cNvSpPr/>
          <p:nvPr/>
        </p:nvSpPr>
        <p:spPr>
          <a:xfrm>
            <a:off x="7342632" y="5073206"/>
            <a:ext cx="20939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Agentic Run</a:t>
            </a:r>
            <a:endParaRPr lang="en-US" sz="1100" dirty="0"/>
          </a:p>
        </p:txBody>
      </p:sp>
      <p:sp>
        <p:nvSpPr>
          <p:cNvPr id="56" name="Text 50"/>
          <p:cNvSpPr/>
          <p:nvPr/>
        </p:nvSpPr>
        <p:spPr>
          <a:xfrm>
            <a:off x="7342632" y="5329238"/>
            <a:ext cx="20939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multi-agent execution, streamed live, with genuine tool calls.</a:t>
            </a:r>
            <a:endParaRPr lang="en-US" sz="800" dirty="0"/>
          </a:p>
        </p:txBody>
      </p:sp>
      <p:pic>
        <p:nvPicPr>
          <p:cNvPr id="57" name="Image 4" descr="C:\Users\prasa\AppData\Local\Temp\claude\C--Users-prasa-Downloads-Momentum\9a4d1695-af03-42d3-8bf3-f20cd34f2dc4\scratchpad\06-observabilit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37776" y="3840480"/>
            <a:ext cx="2093976" cy="1177862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A2A3A">
                <a:alpha val="18000"/>
              </a:srgbClr>
            </a:outerShdw>
          </a:effectLst>
        </p:spPr>
      </p:pic>
      <p:sp>
        <p:nvSpPr>
          <p:cNvPr id="58" name="Text 51"/>
          <p:cNvSpPr/>
          <p:nvPr/>
        </p:nvSpPr>
        <p:spPr>
          <a:xfrm>
            <a:off x="9637776" y="5073206"/>
            <a:ext cx="20939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Observability</a:t>
            </a:r>
            <a:endParaRPr lang="en-US" sz="1100" dirty="0"/>
          </a:p>
        </p:txBody>
      </p:sp>
      <p:sp>
        <p:nvSpPr>
          <p:cNvPr id="59" name="Text 52"/>
          <p:cNvSpPr/>
          <p:nvPr/>
        </p:nvSpPr>
        <p:spPr>
          <a:xfrm>
            <a:off x="9637776" y="5329238"/>
            <a:ext cx="20939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Portfolio-wide real cost, usage, and decision trail — nothing simulated.</a:t>
            </a:r>
            <a:endParaRPr lang="en-US" sz="800" dirty="0"/>
          </a:p>
        </p:txBody>
      </p:sp>
      <p:sp>
        <p:nvSpPr>
          <p:cNvPr id="60" name="Text 5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EGPA — Enterprise Governance Platform for AI</a:t>
            </a:r>
            <a:endParaRPr lang="en-US" sz="1000" dirty="0"/>
          </a:p>
        </p:txBody>
      </p:sp>
      <p:sp>
        <p:nvSpPr>
          <p:cNvPr id="61" name="Text 54"/>
          <p:cNvSpPr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A9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&amp; SECURITY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Enforced at runtime — not declared in a policy document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611880" cy="1417320"/>
          </a:xfrm>
          <a:prstGeom prst="roundRect">
            <a:avLst>
              <a:gd name="adj" fmla="val 5161"/>
            </a:avLst>
          </a:prstGeom>
          <a:solidFill>
            <a:srgbClr val="0A2A43"/>
          </a:solidFill>
          <a:ln w="12700">
            <a:solidFill>
              <a:srgbClr val="1E4A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2130552"/>
            <a:ext cx="109728" cy="1088136"/>
          </a:xfrm>
          <a:prstGeom prst="roundRect">
            <a:avLst/>
          </a:prstGeom>
          <a:solidFill>
            <a:srgbClr val="1A9C94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093976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Kill-switch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60120" y="2514600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AFC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Server-enforced; actually blocks the next execution step.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343400" y="1965960"/>
            <a:ext cx="3611880" cy="1417320"/>
          </a:xfrm>
          <a:prstGeom prst="roundRect">
            <a:avLst>
              <a:gd name="adj" fmla="val 5161"/>
            </a:avLst>
          </a:prstGeom>
          <a:solidFill>
            <a:srgbClr val="0A2A43"/>
          </a:solidFill>
          <a:ln w="12700">
            <a:solidFill>
              <a:srgbClr val="1E4A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07992" y="2130552"/>
            <a:ext cx="109728" cy="1088136"/>
          </a:xfrm>
          <a:prstGeom prst="roundRect">
            <a:avLst/>
          </a:prstGeom>
          <a:solidFill>
            <a:srgbClr val="1A9C94"/>
          </a:solidFill>
          <a:ln/>
        </p:spPr>
      </p:sp>
      <p:sp>
        <p:nvSpPr>
          <p:cNvPr id="10" name="Text 8"/>
          <p:cNvSpPr/>
          <p:nvPr/>
        </p:nvSpPr>
        <p:spPr>
          <a:xfrm>
            <a:off x="4754880" y="2093976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Segregation of duties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754880" y="2514600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AFC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owner can never clear their own ARB sign-off.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138160" y="1965960"/>
            <a:ext cx="3611880" cy="1417320"/>
          </a:xfrm>
          <a:prstGeom prst="roundRect">
            <a:avLst>
              <a:gd name="adj" fmla="val 5161"/>
            </a:avLst>
          </a:prstGeom>
          <a:solidFill>
            <a:srgbClr val="0A2A43"/>
          </a:solidFill>
          <a:ln w="12700">
            <a:solidFill>
              <a:srgbClr val="1E4A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302752" y="2130552"/>
            <a:ext cx="109728" cy="1088136"/>
          </a:xfrm>
          <a:prstGeom prst="roundRect">
            <a:avLst/>
          </a:prstGeom>
          <a:solidFill>
            <a:srgbClr val="1A9C94"/>
          </a:solidFill>
          <a:ln/>
        </p:spPr>
      </p:sp>
      <p:sp>
        <p:nvSpPr>
          <p:cNvPr id="14" name="Text 12"/>
          <p:cNvSpPr/>
          <p:nvPr/>
        </p:nvSpPr>
        <p:spPr>
          <a:xfrm>
            <a:off x="8549640" y="2093976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Tamper-evident audit log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549640" y="2514600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AFC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 hash chain — editing history breaks verification.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3566160"/>
            <a:ext cx="3611880" cy="1417320"/>
          </a:xfrm>
          <a:prstGeom prst="roundRect">
            <a:avLst>
              <a:gd name="adj" fmla="val 5161"/>
            </a:avLst>
          </a:prstGeom>
          <a:solidFill>
            <a:srgbClr val="0A2A43"/>
          </a:solidFill>
          <a:ln w="12700">
            <a:solidFill>
              <a:srgbClr val="1E4A6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13232" y="3730752"/>
            <a:ext cx="109728" cy="1088136"/>
          </a:xfrm>
          <a:prstGeom prst="roundRect">
            <a:avLst/>
          </a:prstGeom>
          <a:solidFill>
            <a:srgbClr val="1A9C94"/>
          </a:solidFill>
          <a:ln/>
        </p:spPr>
      </p:sp>
      <p:sp>
        <p:nvSpPr>
          <p:cNvPr id="18" name="Text 16"/>
          <p:cNvSpPr/>
          <p:nvPr/>
        </p:nvSpPr>
        <p:spPr>
          <a:xfrm>
            <a:off x="960120" y="3694176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detection &amp; redaction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60120" y="4114800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AFC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against every real sub-agent step output.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343400" y="3566160"/>
            <a:ext cx="3611880" cy="1417320"/>
          </a:xfrm>
          <a:prstGeom prst="roundRect">
            <a:avLst>
              <a:gd name="adj" fmla="val 5161"/>
            </a:avLst>
          </a:prstGeom>
          <a:solidFill>
            <a:srgbClr val="0A2A43"/>
          </a:solidFill>
          <a:ln w="12700">
            <a:solidFill>
              <a:srgbClr val="1E4A6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07992" y="3730752"/>
            <a:ext cx="109728" cy="1088136"/>
          </a:xfrm>
          <a:prstGeom prst="roundRect">
            <a:avLst/>
          </a:prstGeom>
          <a:solidFill>
            <a:srgbClr val="1A9C94"/>
          </a:solidFill>
          <a:ln/>
        </p:spPr>
      </p:sp>
      <p:sp>
        <p:nvSpPr>
          <p:cNvPr id="22" name="Text 20"/>
          <p:cNvSpPr/>
          <p:nvPr/>
        </p:nvSpPr>
        <p:spPr>
          <a:xfrm>
            <a:off x="4754880" y="3694176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allowlist enforcement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754880" y="4114800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AFC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Enforced server-side, not just documented as a plan.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138160" y="3566160"/>
            <a:ext cx="3611880" cy="1417320"/>
          </a:xfrm>
          <a:prstGeom prst="roundRect">
            <a:avLst>
              <a:gd name="adj" fmla="val 5161"/>
            </a:avLst>
          </a:prstGeom>
          <a:solidFill>
            <a:srgbClr val="0A2A43"/>
          </a:solidFill>
          <a:ln w="12700">
            <a:solidFill>
              <a:srgbClr val="1E4A6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302752" y="3730752"/>
            <a:ext cx="109728" cy="1088136"/>
          </a:xfrm>
          <a:prstGeom prst="roundRect">
            <a:avLst/>
          </a:prstGeom>
          <a:solidFill>
            <a:srgbClr val="1A9C94"/>
          </a:solidFill>
          <a:ln/>
        </p:spPr>
      </p:sp>
      <p:sp>
        <p:nvSpPr>
          <p:cNvPr id="26" name="Text 24"/>
          <p:cNvSpPr/>
          <p:nvPr/>
        </p:nvSpPr>
        <p:spPr>
          <a:xfrm>
            <a:off x="8549640" y="3694176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retention enforcement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549640" y="4114800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AFC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purge on each use case's declared window.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48640" y="5166360"/>
            <a:ext cx="3611880" cy="1417320"/>
          </a:xfrm>
          <a:prstGeom prst="roundRect">
            <a:avLst>
              <a:gd name="adj" fmla="val 5161"/>
            </a:avLst>
          </a:prstGeom>
          <a:solidFill>
            <a:srgbClr val="0A2A43"/>
          </a:solidFill>
          <a:ln w="12700">
            <a:solidFill>
              <a:srgbClr val="1E4A6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3232" y="5330952"/>
            <a:ext cx="109728" cy="1088136"/>
          </a:xfrm>
          <a:prstGeom prst="roundRect">
            <a:avLst/>
          </a:prstGeom>
          <a:solidFill>
            <a:srgbClr val="1A9C94"/>
          </a:solidFill>
          <a:ln/>
        </p:spPr>
      </p:sp>
      <p:sp>
        <p:nvSpPr>
          <p:cNvPr id="30" name="Text 28"/>
          <p:cNvSpPr/>
          <p:nvPr/>
        </p:nvSpPr>
        <p:spPr>
          <a:xfrm>
            <a:off x="960120" y="5294376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Preflight policy-check API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60120" y="5715000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AFC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check for agents running outside this platform.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343400" y="5166360"/>
            <a:ext cx="3611880" cy="1417320"/>
          </a:xfrm>
          <a:prstGeom prst="roundRect">
            <a:avLst>
              <a:gd name="adj" fmla="val 5161"/>
            </a:avLst>
          </a:prstGeom>
          <a:solidFill>
            <a:srgbClr val="0A2A43"/>
          </a:solidFill>
          <a:ln w="12700">
            <a:solidFill>
              <a:srgbClr val="1E4A6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07992" y="5330952"/>
            <a:ext cx="109728" cy="1088136"/>
          </a:xfrm>
          <a:prstGeom prst="roundRect">
            <a:avLst/>
          </a:prstGeom>
          <a:solidFill>
            <a:srgbClr val="1A9C94"/>
          </a:solidFill>
          <a:ln/>
        </p:spPr>
      </p:sp>
      <p:sp>
        <p:nvSpPr>
          <p:cNvPr id="34" name="Text 32"/>
          <p:cNvSpPr/>
          <p:nvPr/>
        </p:nvSpPr>
        <p:spPr>
          <a:xfrm>
            <a:off x="4754880" y="5294376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Declared-vs-actual reconciliation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4754880" y="5715000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AFC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any deviation from what was declared, after the fact.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138160" y="5166360"/>
            <a:ext cx="3611880" cy="1417320"/>
          </a:xfrm>
          <a:prstGeom prst="roundRect">
            <a:avLst>
              <a:gd name="adj" fmla="val 5161"/>
            </a:avLst>
          </a:prstGeom>
          <a:solidFill>
            <a:srgbClr val="0A2A43"/>
          </a:solidFill>
          <a:ln w="12700">
            <a:solidFill>
              <a:srgbClr val="1E4A6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302752" y="5330952"/>
            <a:ext cx="109728" cy="1088136"/>
          </a:xfrm>
          <a:prstGeom prst="roundRect">
            <a:avLst/>
          </a:prstGeom>
          <a:solidFill>
            <a:srgbClr val="1A9C94"/>
          </a:solidFill>
          <a:ln/>
        </p:spPr>
      </p:sp>
      <p:sp>
        <p:nvSpPr>
          <p:cNvPr id="38" name="Text 36"/>
          <p:cNvSpPr/>
          <p:nvPr/>
        </p:nvSpPr>
        <p:spPr>
          <a:xfrm>
            <a:off x="8549640" y="5294376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Multi-tenancy + SSO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8549640" y="5715000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AFC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Business-unit scoping, enforced server-side; Google OIDC.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EGPA — Enterprise Governance Platform for AI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71B2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Overall Platform Architecture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4980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FC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view · Every layer real and deployed · No layer simulated for this diagram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EAF0F5"/>
          </a:solidFill>
          <a:ln w="12700">
            <a:solidFill>
              <a:srgbClr val="C7D6E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463040"/>
            <a:ext cx="1072591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&amp; IDENTITY  — 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Auth.js v5 (credentials + Google OIDC SSO)  ·  Real Organization / business-unit tenancy  ·  6 roles, server-enforced  ·  Segregation of duties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2176272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E6F5F3"/>
          </a:solidFill>
          <a:ln w="12700">
            <a:solidFill>
              <a:srgbClr val="A9DE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176272"/>
            <a:ext cx="1072591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&amp; RUNTIME  — 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(Next.js app)  ·  Google Cloud Run (AI Gateway container)  ·  Neon Postgres (serverless)  ·  Upstash Redis (rate limit, presence, SSE)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3044952"/>
            <a:ext cx="3429000" cy="2011680"/>
          </a:xfrm>
          <a:prstGeom prst="roundRect">
            <a:avLst>
              <a:gd name="adj" fmla="val 3636"/>
            </a:avLst>
          </a:prstGeom>
          <a:solidFill>
            <a:srgbClr val="EFF3FF"/>
          </a:solidFill>
          <a:ln w="15240">
            <a:solidFill>
              <a:srgbClr val="C3D2F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3191256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94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LAYER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85800" y="3593592"/>
            <a:ext cx="29718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Next.js 16 App Router</a:t>
            </a:r>
            <a:endParaRPr lang="en-US" sz="11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One API route per pipeline stage</a:t>
            </a:r>
            <a:endParaRPr lang="en-US" sz="11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Prisma ORM -&gt; Neon Postgres</a:t>
            </a:r>
            <a:endParaRPr lang="en-US" sz="11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Real-time SSE broadcast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913632" y="3941064"/>
            <a:ext cx="256032" cy="219456"/>
          </a:xfrm>
          <a:prstGeom prst="rightArrow">
            <a:avLst/>
          </a:prstGeom>
          <a:solidFill>
            <a:srgbClr val="6B7280"/>
          </a:solidFill>
          <a:ln/>
        </p:spPr>
      </p:sp>
      <p:sp>
        <p:nvSpPr>
          <p:cNvPr id="13" name="Shape 11"/>
          <p:cNvSpPr/>
          <p:nvPr/>
        </p:nvSpPr>
        <p:spPr>
          <a:xfrm>
            <a:off x="4197096" y="3044952"/>
            <a:ext cx="3429000" cy="2011680"/>
          </a:xfrm>
          <a:prstGeom prst="roundRect">
            <a:avLst>
              <a:gd name="adj" fmla="val 3636"/>
            </a:avLst>
          </a:prstGeom>
          <a:solidFill>
            <a:srgbClr val="F0FBFA"/>
          </a:solidFill>
          <a:ln w="15240">
            <a:solidFill>
              <a:srgbClr val="A9DED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25696" y="3191256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GATEWAY &amp; AGENTS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425696" y="3593592"/>
            <a:ext cx="29718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Self-hosted LiteLLM Proxy</a:t>
            </a:r>
            <a:endParaRPr lang="en-US" sz="11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Anthropic -&gt; Groq -&gt; Gemini -&gt; OpenRouter fallback</a:t>
            </a:r>
            <a:endParaRPr lang="en-US" sz="11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LangGraph sub-agent execution</a:t>
            </a:r>
            <a:endParaRPr lang="en-US" sz="11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Token-by-token streaming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653528" y="3941064"/>
            <a:ext cx="256032" cy="219456"/>
          </a:xfrm>
          <a:prstGeom prst="rightArrow">
            <a:avLst/>
          </a:prstGeom>
          <a:solidFill>
            <a:srgbClr val="6B7280"/>
          </a:solidFill>
          <a:ln/>
        </p:spPr>
      </p:sp>
      <p:sp>
        <p:nvSpPr>
          <p:cNvPr id="17" name="Shape 15"/>
          <p:cNvSpPr/>
          <p:nvPr/>
        </p:nvSpPr>
        <p:spPr>
          <a:xfrm>
            <a:off x="7936992" y="3044952"/>
            <a:ext cx="3429000" cy="2011680"/>
          </a:xfrm>
          <a:prstGeom prst="roundRect">
            <a:avLst>
              <a:gd name="adj" fmla="val 3636"/>
            </a:avLst>
          </a:prstGeom>
          <a:solidFill>
            <a:srgbClr val="FBF3EA"/>
          </a:solidFill>
          <a:ln w="15240">
            <a:solidFill>
              <a:srgbClr val="EBCFA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65592" y="3191256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&amp; KNOWLEDGE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165592" y="3593592"/>
            <a:ext cx="29718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Pinecone vector index</a:t>
            </a:r>
            <a:endParaRPr lang="en-US" sz="11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Cohere embeddings</a:t>
            </a:r>
            <a:endParaRPr lang="en-US" sz="11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Namespace: governance docs</a:t>
            </a:r>
            <a:endParaRPr lang="en-US" sz="11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Namespace: in-app help docs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5221224"/>
            <a:ext cx="5481828" cy="960120"/>
          </a:xfrm>
          <a:prstGeom prst="roundRect">
            <a:avLst>
              <a:gd name="adj" fmla="val 7619"/>
            </a:avLst>
          </a:prstGeom>
          <a:solidFill>
            <a:srgbClr val="F3EFFB"/>
          </a:solidFill>
          <a:ln w="15240">
            <a:solidFill>
              <a:srgbClr val="D6C9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5221224"/>
            <a:ext cx="4933188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5B3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CONTROL &amp; AUDIT  — 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Session-based RBAC  ·  Scoped API keys (read/write)  ·  SHA-256 hash-chained tamper-evident audit log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49924" y="5221224"/>
            <a:ext cx="5481828" cy="960120"/>
          </a:xfrm>
          <a:prstGeom prst="roundRect">
            <a:avLst>
              <a:gd name="adj" fmla="val 7619"/>
            </a:avLst>
          </a:prstGeom>
          <a:solidFill>
            <a:srgbClr val="FDEEEE"/>
          </a:solidFill>
          <a:ln w="15240">
            <a:solidFill>
              <a:srgbClr val="F3C6C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24244" y="5221224"/>
            <a:ext cx="4933188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&amp; ALERTING  — 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Observability dashboard  ·  Slack notifications  ·  Production error monitoring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A9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real architecture diagram — straight from the app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and filterable by real request flow, visible to Developer/Admin roles — not a static export made for this deck.</a:t>
            </a:r>
            <a:endParaRPr lang="en-US" sz="1300" dirty="0"/>
          </a:p>
        </p:txBody>
      </p:sp>
      <p:pic>
        <p:nvPicPr>
          <p:cNvPr id="5" name="Image 0" descr="C:\Users\prasa\AppData\Local\Temp\claude\C--Users-prasa-Downloads-Momentum\9a4d1695-af03-42d3-8bf3-f20cd34f2dc4\scratchpad\08-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30476" y="1828800"/>
            <a:ext cx="81280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2A3A">
                <a:alpha val="20000"/>
              </a:srgbClr>
            </a:outerShdw>
          </a:effectLst>
        </p:spPr>
      </p:pic>
      <p:sp>
        <p:nvSpPr>
          <p:cNvPr id="6" name="Text 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EGPA — Enterprise Governance Platform for AI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A9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&amp; ACCESS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roles, one shared record</a:t>
            </a:r>
            <a:endParaRPr lang="en-US" sz="3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59436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THEY GET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4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Requester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Intake, Portfolio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Turn an idea into a governed, documented use case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Steward / Architect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Recommendation, Guide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Validate architecture against real constraints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Governance Owner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Gate, ADR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Enforce controls; can halt a live execution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Agentic System, Observability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 approved use cases; wire up webhooks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Review Board (ARB)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 (Critical tier)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one sign-off nothing else can substitute for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Everything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access, every role's view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EGPA — Enterprise Governance Platform for AI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A9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BUSINESS VALUE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 projection — live numbers off this platform's own database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Tied directly to the outcome categories a real adoption case needs to justify itself against: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2103120"/>
            <a:ext cx="2093976" cy="2834640"/>
          </a:xfrm>
          <a:prstGeom prst="roundRect">
            <a:avLst>
              <a:gd name="adj" fmla="val 4367"/>
            </a:avLst>
          </a:prstGeom>
          <a:solidFill>
            <a:srgbClr val="0A2A43"/>
          </a:solidFill>
          <a:ln w="12700">
            <a:solidFill>
              <a:srgbClr val="1E4A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377440"/>
            <a:ext cx="20939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9C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31.8 hr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94360" y="3200400"/>
            <a:ext cx="18196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Reduced approval time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3794760"/>
            <a:ext cx="181965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Intake -&gt; Gate cleared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752344" y="2103120"/>
            <a:ext cx="2093976" cy="2834640"/>
          </a:xfrm>
          <a:prstGeom prst="roundRect">
            <a:avLst>
              <a:gd name="adj" fmla="val 4367"/>
            </a:avLst>
          </a:prstGeom>
          <a:solidFill>
            <a:srgbClr val="0A2A43"/>
          </a:solidFill>
          <a:ln w="12700">
            <a:solidFill>
              <a:srgbClr val="1E4A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52344" y="2377440"/>
            <a:ext cx="20939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9C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889504" y="3200400"/>
            <a:ext cx="18196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Improved reuse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889504" y="3794760"/>
            <a:ext cx="181965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sessions that avoided a rebuild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047488" y="2103120"/>
            <a:ext cx="2093976" cy="2834640"/>
          </a:xfrm>
          <a:prstGeom prst="roundRect">
            <a:avLst>
              <a:gd name="adj" fmla="val 4367"/>
            </a:avLst>
          </a:prstGeom>
          <a:solidFill>
            <a:srgbClr val="0A2A43"/>
          </a:solidFill>
          <a:ln w="12700">
            <a:solidFill>
              <a:srgbClr val="1E4A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47488" y="2377440"/>
            <a:ext cx="20939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9C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$399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5184648" y="3200400"/>
            <a:ext cx="18196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delivery cost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184648" y="3794760"/>
            <a:ext cx="181965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cost saved vs. declared baseline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342632" y="2103120"/>
            <a:ext cx="2093976" cy="2834640"/>
          </a:xfrm>
          <a:prstGeom prst="roundRect">
            <a:avLst>
              <a:gd name="adj" fmla="val 4367"/>
            </a:avLst>
          </a:prstGeom>
          <a:solidFill>
            <a:srgbClr val="0A2A43"/>
          </a:solidFill>
          <a:ln w="12700">
            <a:solidFill>
              <a:srgbClr val="1E4A6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42632" y="2377440"/>
            <a:ext cx="20939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9C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7479792" y="3200400"/>
            <a:ext cx="18196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Reduced compliance exposure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479792" y="3794760"/>
            <a:ext cx="181965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incidents caught &amp; logged to audit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9637776" y="2103120"/>
            <a:ext cx="2093976" cy="2834640"/>
          </a:xfrm>
          <a:prstGeom prst="roundRect">
            <a:avLst>
              <a:gd name="adj" fmla="val 4367"/>
            </a:avLst>
          </a:prstGeom>
          <a:solidFill>
            <a:srgbClr val="0A2A43"/>
          </a:solidFill>
          <a:ln w="12700">
            <a:solidFill>
              <a:srgbClr val="1E4A6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637776" y="2377440"/>
            <a:ext cx="20939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9C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7.5 hr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9774936" y="3200400"/>
            <a:ext cx="18196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to production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774936" y="3794760"/>
            <a:ext cx="181965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Intake -&gt; first execution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48640" y="521208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i="1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real agent executions · 58 sub-agent steps (100% settled) · 13 real RAG searches (100% hit rate) — these figures grow with every real use case run through the platform, never reset or curated for presentation.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EGPA — Enterprise Governance Platform for AI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A9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SCOPE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real, and what isn't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5394960" cy="4023360"/>
          </a:xfrm>
          <a:prstGeom prst="roundRect">
            <a:avLst>
              <a:gd name="adj" fmla="val 2273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224028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GENUINELY REAL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743200"/>
            <a:ext cx="47548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lnSpc>
                <a:spcPct val="150000"/>
              </a:lnSpc>
              <a:buSzPct val="100000"/>
              <a:buChar char="•"/>
            </a:pPr>
            <a:r>
              <a:rPr lang="en-US" sz="1300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database, real auth (local + Google SSO)
</a:t>
            </a:r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tool-calling agents, token-by-token streaming
</a:t>
            </a:r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live multi-user sync, no refresh needed
</a:t>
            </a:r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runtime governance — audit log, allowlist, kill-switch
</a:t>
            </a:r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deployment: Vercel + Cloud Run + Neon + Redis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17920" y="2011680"/>
            <a:ext cx="5394960" cy="4023360"/>
          </a:xfrm>
          <a:prstGeom prst="roundRect">
            <a:avLst>
              <a:gd name="adj" fmla="val 2273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7960" y="224028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 DELIBERATELY OUT OF SCOPE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37960" y="2743200"/>
            <a:ext cx="47548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7C2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real external system integrations — that's the org's own engineering work, informed by the ADR this platform produces.
</a:t>
            </a:r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7C2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EGPA's own execution engine is a validation sandbox, not a production host — it validates the recommended pattern and governance behavior, not a live workload.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EGPA — Enterprise Governance Platform for AI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A9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STACK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on real, production infrastructure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3611880" cy="1554480"/>
          </a:xfrm>
          <a:prstGeom prst="roundRect">
            <a:avLst>
              <a:gd name="adj" fmla="val 5882"/>
            </a:avLst>
          </a:prstGeom>
          <a:solidFill>
            <a:srgbClr val="F3F6F8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331720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834640"/>
            <a:ext cx="3063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16, React 19, TypeScript, Tailwind v4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43400" y="2103120"/>
            <a:ext cx="3611880" cy="1554480"/>
          </a:xfrm>
          <a:prstGeom prst="roundRect">
            <a:avLst>
              <a:gd name="adj" fmla="val 5882"/>
            </a:avLst>
          </a:prstGeom>
          <a:solidFill>
            <a:srgbClr val="F3F6F8"/>
          </a:solidFill>
          <a:ln/>
        </p:spPr>
      </p:sp>
      <p:sp>
        <p:nvSpPr>
          <p:cNvPr id="8" name="Text 6"/>
          <p:cNvSpPr/>
          <p:nvPr/>
        </p:nvSpPr>
        <p:spPr>
          <a:xfrm>
            <a:off x="4617720" y="2331720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/ Data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617720" y="2834640"/>
            <a:ext cx="3063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7 + Neon Postgres, Auth.js v5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38160" y="2103120"/>
            <a:ext cx="3611880" cy="1554480"/>
          </a:xfrm>
          <a:prstGeom prst="roundRect">
            <a:avLst>
              <a:gd name="adj" fmla="val 5882"/>
            </a:avLst>
          </a:prstGeom>
          <a:solidFill>
            <a:srgbClr val="F3F6F8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0" y="2331720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Orchestration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412480" y="2834640"/>
            <a:ext cx="3063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+ LangChain, SSE streaming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3840480"/>
            <a:ext cx="3611880" cy="1554480"/>
          </a:xfrm>
          <a:prstGeom prst="roundRect">
            <a:avLst>
              <a:gd name="adj" fmla="val 5882"/>
            </a:avLst>
          </a:prstGeom>
          <a:solidFill>
            <a:srgbClr val="F3F6F8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069080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/ RAG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2960" y="4572000"/>
            <a:ext cx="3063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Pinecone + Cohere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343400" y="3840480"/>
            <a:ext cx="3611880" cy="1554480"/>
          </a:xfrm>
          <a:prstGeom prst="roundRect">
            <a:avLst>
              <a:gd name="adj" fmla="val 5882"/>
            </a:avLst>
          </a:prstGeom>
          <a:solidFill>
            <a:srgbClr val="F3F6F8"/>
          </a:solidFill>
          <a:ln/>
        </p:spPr>
      </p:sp>
      <p:sp>
        <p:nvSpPr>
          <p:cNvPr id="17" name="Text 15"/>
          <p:cNvSpPr/>
          <p:nvPr/>
        </p:nvSpPr>
        <p:spPr>
          <a:xfrm>
            <a:off x="4617720" y="4069080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Gateway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617720" y="4572000"/>
            <a:ext cx="3063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Self-hosted LiteLLM Proxy, Google Cloud Run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8160" y="3840480"/>
            <a:ext cx="3611880" cy="1554480"/>
          </a:xfrm>
          <a:prstGeom prst="roundRect">
            <a:avLst>
              <a:gd name="adj" fmla="val 5882"/>
            </a:avLst>
          </a:prstGeom>
          <a:solidFill>
            <a:srgbClr val="F3F6F8"/>
          </a:solidFill>
          <a:ln/>
        </p:spPr>
      </p:sp>
      <p:sp>
        <p:nvSpPr>
          <p:cNvPr id="20" name="Text 18"/>
          <p:cNvSpPr/>
          <p:nvPr/>
        </p:nvSpPr>
        <p:spPr>
          <a:xfrm>
            <a:off x="8412480" y="4069080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/ Caching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0" y="4572000"/>
            <a:ext cx="3063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(Upstash)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EGPA — Enterprise Governance Platform for AI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A9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PHASED IMPLEMENTATION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invented dates — sequenced by what deepens governance first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single-team roadmap can't credibly commit to a quarter, so this is grouped by sequencing, not promised timing.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3611880" cy="4160520"/>
          </a:xfrm>
          <a:prstGeom prst="roundRect">
            <a:avLst>
              <a:gd name="adj" fmla="val 2532"/>
            </a:avLst>
          </a:prstGeom>
          <a:solidFill>
            <a:srgbClr val="F3F6F8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2011680"/>
            <a:ext cx="3611880" cy="502920"/>
          </a:xfrm>
          <a:prstGeom prst="roundRect">
            <a:avLst>
              <a:gd name="adj" fmla="val 18182"/>
            </a:avLst>
          </a:prstGeom>
          <a:solidFill>
            <a:srgbClr val="1A9C94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2267712"/>
            <a:ext cx="3611880" cy="246888"/>
          </a:xfrm>
          <a:prstGeom prst="rect">
            <a:avLst/>
          </a:prstGeom>
          <a:solidFill>
            <a:srgbClr val="1A9C94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01168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 — MVP, LIVE TODAY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58368" y="2697480"/>
            <a:ext cx="3209544" cy="3246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pipeline, Discovery through Observability</a:t>
            </a:r>
            <a:endParaRPr lang="en-US" sz="1100" dirty="0"/>
          </a:p>
          <a:p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runtime governance: kill-switch, audit log, PII redaction</a:t>
            </a:r>
            <a:endParaRPr lang="en-US" sz="1100" dirty="0"/>
          </a:p>
          <a:p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multi-tenancy, SSO, AI Gateway with fallback</a:t>
            </a:r>
            <a:endParaRPr lang="en-US" sz="1100" dirty="0"/>
          </a:p>
          <a:p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Preflight-check + reconciliation APIs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88536" y="2011680"/>
            <a:ext cx="3611880" cy="4160520"/>
          </a:xfrm>
          <a:prstGeom prst="roundRect">
            <a:avLst>
              <a:gd name="adj" fmla="val 2532"/>
            </a:avLst>
          </a:prstGeom>
          <a:solidFill>
            <a:srgbClr val="F3F6F8"/>
          </a:solidFill>
          <a:ln/>
        </p:spPr>
      </p:sp>
      <p:sp>
        <p:nvSpPr>
          <p:cNvPr id="11" name="Shape 9"/>
          <p:cNvSpPr/>
          <p:nvPr/>
        </p:nvSpPr>
        <p:spPr>
          <a:xfrm>
            <a:off x="4288536" y="2011680"/>
            <a:ext cx="3611880" cy="502920"/>
          </a:xfrm>
          <a:prstGeom prst="roundRect">
            <a:avLst>
              <a:gd name="adj" fmla="val 18182"/>
            </a:avLst>
          </a:prstGeom>
          <a:solidFill>
            <a:srgbClr val="0A2A43"/>
          </a:solidFill>
          <a:ln/>
        </p:spPr>
      </p:sp>
      <p:sp>
        <p:nvSpPr>
          <p:cNvPr id="12" name="Shape 10"/>
          <p:cNvSpPr/>
          <p:nvPr/>
        </p:nvSpPr>
        <p:spPr>
          <a:xfrm>
            <a:off x="4288536" y="2267712"/>
            <a:ext cx="3611880" cy="246888"/>
          </a:xfrm>
          <a:prstGeom prst="rect">
            <a:avLst/>
          </a:prstGeom>
          <a:solidFill>
            <a:srgbClr val="0A2A43"/>
          </a:solidFill>
          <a:ln/>
        </p:spPr>
      </p:sp>
      <p:sp>
        <p:nvSpPr>
          <p:cNvPr id="13" name="Text 11"/>
          <p:cNvSpPr/>
          <p:nvPr/>
        </p:nvSpPr>
        <p:spPr>
          <a:xfrm>
            <a:off x="4471416" y="201168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— DEEPENS GOVERNANCE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489704" y="2697480"/>
            <a:ext cx="3209544" cy="3246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templates per regulatory regime</a:t>
            </a:r>
            <a:endParaRPr lang="en-US" sz="1100" dirty="0"/>
          </a:p>
          <a:p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Configurable PII patterns per org/region</a:t>
            </a:r>
            <a:endParaRPr lang="en-US" sz="1100" dirty="0"/>
          </a:p>
          <a:p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citation mapping</a:t>
            </a:r>
            <a:endParaRPr lang="en-US" sz="1100" dirty="0"/>
          </a:p>
          <a:p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workflow tied to the kill-switch</a:t>
            </a:r>
            <a:endParaRPr lang="en-US" sz="1100" dirty="0"/>
          </a:p>
          <a:p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portfolio risk rollup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119872" y="2011680"/>
            <a:ext cx="3611880" cy="4160520"/>
          </a:xfrm>
          <a:prstGeom prst="roundRect">
            <a:avLst>
              <a:gd name="adj" fmla="val 2532"/>
            </a:avLst>
          </a:prstGeom>
          <a:solidFill>
            <a:srgbClr val="F3F6F8"/>
          </a:solidFill>
          <a:ln/>
        </p:spPr>
      </p:sp>
      <p:sp>
        <p:nvSpPr>
          <p:cNvPr id="16" name="Shape 14"/>
          <p:cNvSpPr/>
          <p:nvPr/>
        </p:nvSpPr>
        <p:spPr>
          <a:xfrm>
            <a:off x="8119872" y="2011680"/>
            <a:ext cx="3611880" cy="502920"/>
          </a:xfrm>
          <a:prstGeom prst="roundRect">
            <a:avLst>
              <a:gd name="adj" fmla="val 18182"/>
            </a:avLst>
          </a:prstGeom>
          <a:solidFill>
            <a:srgbClr val="6B7280"/>
          </a:solidFill>
          <a:ln/>
        </p:spPr>
      </p:sp>
      <p:sp>
        <p:nvSpPr>
          <p:cNvPr id="17" name="Shape 15"/>
          <p:cNvSpPr/>
          <p:nvPr/>
        </p:nvSpPr>
        <p:spPr>
          <a:xfrm>
            <a:off x="8119872" y="2267712"/>
            <a:ext cx="3611880" cy="246888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18" name="Text 16"/>
          <p:cNvSpPr/>
          <p:nvPr/>
        </p:nvSpPr>
        <p:spPr>
          <a:xfrm>
            <a:off x="8302752" y="201168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 &amp; HARDENING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321040" y="2697480"/>
            <a:ext cx="3209544" cy="3246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 &amp; reference architecture templates</a:t>
            </a:r>
            <a:endParaRPr lang="en-US" sz="1100" dirty="0"/>
          </a:p>
          <a:p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Vendor/model blast-radius reverse lookup</a:t>
            </a:r>
            <a:endParaRPr lang="en-US" sz="1100" dirty="0"/>
          </a:p>
          <a:p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Configurable approval workflows per org</a:t>
            </a:r>
            <a:endParaRPr lang="en-US" sz="1100" dirty="0"/>
          </a:p>
          <a:p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Broader test coverage, accessibility audit, SCIM, per-tenant branding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EGPA — Enterprise Governance Platform for AI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286000"/>
            <a:ext cx="6400800" cy="6400800"/>
          </a:xfrm>
          <a:prstGeom prst="ellipse">
            <a:avLst/>
          </a:prstGeom>
          <a:solidFill>
            <a:srgbClr val="0A2A43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103120"/>
            <a:ext cx="96012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Governance as the fast path,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the bottleneck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68680" y="379476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7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assessment, sign-off, and audit — enforced, automatic parts of the same pipeline a team already uses to design their agent.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68680" y="5120640"/>
            <a:ext cx="2011680" cy="0"/>
          </a:xfrm>
          <a:prstGeom prst="line">
            <a:avLst/>
          </a:prstGeom>
          <a:noFill/>
          <a:ln w="31750">
            <a:solidFill>
              <a:srgbClr val="1A9C9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52578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9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real, running system — independently verifiable end to end.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2026-08-17T12:27:21Z</dcterms:created>
  <dcterms:modified xsi:type="dcterms:W3CDTF">2026-08-17T12:27:21Z</dcterms:modified>
</cp:coreProperties>
</file>