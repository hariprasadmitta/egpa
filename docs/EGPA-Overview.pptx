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1A9C94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GOVERNANCE PLATFORM FOR AI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working control plane — problem statement to governed, running agent, with enforced sign-off and a runtime kill-switch at every stage.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576072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Architecture Overview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can't keep up with how fast teams want to build AI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vs. review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want to build agents fast, in whatever framework fits — central risk teams can't review that volume by hand.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enforceable record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wiki page or a Slack approval thread leaves nothing that proves, after the fact, a control was actually satisfied.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210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410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6" name="Text 14"/>
          <p:cNvSpPr/>
          <p:nvPr/>
        </p:nvSpPr>
        <p:spPr>
          <a:xfrm>
            <a:off x="86410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410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bad outcomes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410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governance becomes a bottleneck teams build around, or it stays paper-thin and doesn't survive an audit.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discovery and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is the reasoning that precedes the product — included so the decision is auditable, not just the outcome.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3F6F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WE'D TALK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Architecture &amp; platform engineering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whatever gets built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Compliance &amp; Legal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 "acceptable" means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technology leads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the actual demand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platform owners, and a real sample of requesters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0A2A4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2860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TO TEST BEFORE CONFIRMING ANY SOLUTION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88036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6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genuinely can't absorb AI-specific risk without disproportionate custom work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genuinely exceeds what manual review can sustain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will actually route through central intake, not build around it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can be meaningfully computed from a questionnaire, not just expert judgment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genuinely different options — not just technologies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existing platforms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"AI use case" request type, a risk questionnaire, and an approval workflow to whatever GRC and ITSM tooling the org already runs.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an established product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 commercial AI/model-risk-governance platform and configure it to the org's control requirements.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410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dedicated platform (EGPA)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410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control plane, tailored to the org's own risk taxonomy, coupled directly to its own AI Gateway and execution substrate.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and trade-offs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654796" y="950976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A9C94"/>
          </a:solidFill>
          <a:ln/>
        </p:spPr>
      </p:sp>
      <p:sp>
        <p:nvSpPr>
          <p:cNvPr id="5" name="Text 3"/>
          <p:cNvSpPr/>
          <p:nvPr/>
        </p:nvSpPr>
        <p:spPr>
          <a:xfrm>
            <a:off x="8654796" y="9509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WE CHOSE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14600"/>
                <a:gridCol w="2514600"/>
                <a:gridCol w="4416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FB0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FB0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(EGPA)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C9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reuses an existing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vendor config +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Slowest to first value, sequenced on our own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incremental — licensing sunk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license, per-seat/model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investment, no license, internal ownership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complexity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but AI runtime concepts aren't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 — vendor didn't design for our Gateway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by construction — built around our own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Constrained to the host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Configurable, but core logic is vendor-owned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shaped exactly to the org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control language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Compliance-aware, but generic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maps to specific regulation (roadmap item)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built for real-time runtime supervision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 to vendor's own AI roadmap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kill-switch/streaming/audit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build wins, and when it doesn't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F3A56"/>
          </a:solidFill>
          <a:ln w="12700">
            <a:solidFill>
              <a:srgbClr val="1A9C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EGPA WHEN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enforcement is a hard requirement — a kill-switch that actually halts execution, live tool-call auditing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already runs its own AI Gateway that governance needs to couple tightly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taxonomy is specific enough that a generic product's ceiling is hit fast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genuine, sustained capacity to build and maintain 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OR EXTEND WHEN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initiatives are early-stage or low-volume — a lightweight extension is enough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in-house AI Gateway yet — nothing for a build to attach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basic governance matters more than depth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lacks sustained platform-engineering capacity to maintain a bespoke system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incremental path, not a big-bang cutover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9362" y="1609344"/>
            <a:ext cx="438912" cy="43891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9362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85216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AI use cases, informal approvals, no consistent audit trail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87191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7191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5029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54757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 cases only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73045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work through EGPA alongside what exists — nothing force-migrated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75020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5020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32858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5142586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Retroactive governance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60874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existing use cases governed via preflight-check + reconciliation, no rebuild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62849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849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20686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7430414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validation in-house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48702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trusted, validate new builds through EGPA's own execution engine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450678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50678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608515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9718243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36531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legacy approval processes; integrate with GRC/ITSM for cross-reference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EGPA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Plane, not Data Plane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governs how AI agents get built and run — it doesn't sit in the live traffic path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— EGPA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templates &amp; scoring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workflows &amp; sign-off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kill-switch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— AI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LiteLLM Proxy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LLM call routes here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multi-provider fallback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scoped virtual key, no raw provider keys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23560" y="3886200"/>
            <a:ext cx="914400" cy="457200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real stages, one enforced sequence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0862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086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chat, questions the build-an-agent default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51107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107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87445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160597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78885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compliance profile, live risk-tier scoring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8135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135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17689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3790841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09129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LLM architecture proposal + alternatives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911596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11596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47934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5421086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39374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ARB sign-off, kill-switch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54184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184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78178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7051330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69618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decision record, auto-assembled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72085" y="1188720"/>
            <a:ext cx="365760" cy="365760"/>
          </a:xfrm>
          <a:prstGeom prst="ellipse">
            <a:avLst/>
          </a:prstGeom>
          <a:solidFill>
            <a:srgbClr val="DA291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2085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08423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3" name="Text 31"/>
          <p:cNvSpPr/>
          <p:nvPr/>
        </p:nvSpPr>
        <p:spPr>
          <a:xfrm>
            <a:off x="8681575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99863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multi-agent run, streamed, real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0802330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0233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238667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8" name="Text 36"/>
          <p:cNvSpPr/>
          <p:nvPr/>
        </p:nvSpPr>
        <p:spPr>
          <a:xfrm>
            <a:off x="10311819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330107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decision trail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" y="3383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IDEA BECOMES A GOVERNED, RUNNING AGENT</a:t>
            </a:r>
            <a:endParaRPr lang="en-US" sz="1200" dirty="0"/>
          </a:p>
        </p:txBody>
      </p:sp>
      <p:pic>
        <p:nvPicPr>
          <p:cNvPr id="41" name="Image 0" descr="C:\Users\prasa\AppData\Local\Temp\claude\C--Users-prasa-Downloads-Momentum\9a4d1695-af03-42d3-8bf3-f20cd34f2dc4\scratchpad\02-discov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2" name="Shape 39"/>
          <p:cNvSpPr/>
          <p:nvPr/>
        </p:nvSpPr>
        <p:spPr>
          <a:xfrm>
            <a:off x="2560320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Idea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57200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chat questions the build-an-agent default before anything else.</a:t>
            </a:r>
            <a:endParaRPr lang="en-US" sz="800" dirty="0"/>
          </a:p>
        </p:txBody>
      </p:sp>
      <p:pic>
        <p:nvPicPr>
          <p:cNvPr id="45" name="Image 1" descr="C:\Users\prasa\AppData\Local\Temp\claude\C--Users-prasa-Downloads-Momentum\9a4d1695-af03-42d3-8bf3-f20cd34f2dc4\scratchpad\03-recommen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6" name="Shape 42"/>
          <p:cNvSpPr/>
          <p:nvPr/>
        </p:nvSpPr>
        <p:spPr>
          <a:xfrm>
            <a:off x="4855464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7" name="Text 43"/>
          <p:cNvSpPr/>
          <p:nvPr/>
        </p:nvSpPr>
        <p:spPr>
          <a:xfrm>
            <a:off x="2752344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Use Case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2752344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creates the record; a real LLM call proposes the architecture.</a:t>
            </a:r>
            <a:endParaRPr lang="en-US" sz="800" dirty="0"/>
          </a:p>
        </p:txBody>
      </p:sp>
      <p:pic>
        <p:nvPicPr>
          <p:cNvPr id="49" name="Image 2" descr="C:\Users\prasa\AppData\Local\Temp\claude\C--Users-prasa-Downloads-Momentum\9a4d1695-af03-42d3-8bf3-f20cd34f2dc4\scratchpad\04-g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0" name="Shape 45"/>
          <p:cNvSpPr/>
          <p:nvPr/>
        </p:nvSpPr>
        <p:spPr>
          <a:xfrm>
            <a:off x="7150608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1" name="Text 46"/>
          <p:cNvSpPr/>
          <p:nvPr/>
        </p:nvSpPr>
        <p:spPr>
          <a:xfrm>
            <a:off x="5047488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Governance Gates</a:t>
            </a:r>
            <a:endParaRPr lang="en-US" sz="1100" dirty="0"/>
          </a:p>
        </p:txBody>
      </p:sp>
      <p:sp>
        <p:nvSpPr>
          <p:cNvPr id="52" name="Text 47"/>
          <p:cNvSpPr/>
          <p:nvPr/>
        </p:nvSpPr>
        <p:spPr>
          <a:xfrm>
            <a:off x="5047488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sign-off enforced before anything can proceed.</a:t>
            </a:r>
            <a:endParaRPr lang="en-US" sz="800" dirty="0"/>
          </a:p>
        </p:txBody>
      </p:sp>
      <p:pic>
        <p:nvPicPr>
          <p:cNvPr id="53" name="Image 3" descr="C:\Users\prasa\AppData\Local\Temp\claude\C--Users-prasa-Downloads-Momentum\9a4d1695-af03-42d3-8bf3-f20cd34f2dc4\scratchpad\05-execu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4" name="Shape 48"/>
          <p:cNvSpPr/>
          <p:nvPr/>
        </p:nvSpPr>
        <p:spPr>
          <a:xfrm>
            <a:off x="9445752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5" name="Text 49"/>
          <p:cNvSpPr/>
          <p:nvPr/>
        </p:nvSpPr>
        <p:spPr>
          <a:xfrm>
            <a:off x="7342632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Agentic Run</a:t>
            </a:r>
            <a:endParaRPr lang="en-US" sz="1100" dirty="0"/>
          </a:p>
        </p:txBody>
      </p:sp>
      <p:sp>
        <p:nvSpPr>
          <p:cNvPr id="56" name="Text 50"/>
          <p:cNvSpPr/>
          <p:nvPr/>
        </p:nvSpPr>
        <p:spPr>
          <a:xfrm>
            <a:off x="7342632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multi-agent execution, streamed live, with genuine tool calls.</a:t>
            </a:r>
            <a:endParaRPr lang="en-US" sz="800" dirty="0"/>
          </a:p>
        </p:txBody>
      </p:sp>
      <p:pic>
        <p:nvPicPr>
          <p:cNvPr id="57" name="Image 4" descr="C:\Users\prasa\AppData\Local\Temp\claude\C--Users-prasa-Downloads-Momentum\9a4d1695-af03-42d3-8bf3-f20cd34f2dc4\scratchpad\06-observabil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8" name="Text 51"/>
          <p:cNvSpPr/>
          <p:nvPr/>
        </p:nvSpPr>
        <p:spPr>
          <a:xfrm>
            <a:off x="9637776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Observability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9637776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and decision trail — nothing simulated.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runtime — not declared in a policy document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Kill-switch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Server-enforced; actually blocks the next execution step.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0799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can never clear their own ARB sign-off.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audit log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 chain — editing history breaks verification.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&amp; redaction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against every real sub-agent step output.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0799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allowlist enforcement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server-side, not just documented as a plan.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enforcement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purge on each use case's declared window.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policy-check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012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check for agents running outside this platform.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4340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0799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Declared-vs-actual reconciliation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75488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any deviation from what was declared, after the fact.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13816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8" name="Text 36"/>
          <p:cNvSpPr/>
          <p:nvPr/>
        </p:nvSpPr>
        <p:spPr>
          <a:xfrm>
            <a:off x="854964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+ SSO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54964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scoping, enforced server-side; Google OIDC.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Platform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view · Every layer real, deployed, and named — the full technology stack in one diagram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AF0F5"/>
          </a:solidFill>
          <a:ln w="12700">
            <a:solidFill>
              <a:srgbClr val="C7D6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IDENTITY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v5 (credentials + Google OIDC SSO)  ·  Real Organization / business-unit tenancy  ·  6 roles, server-enforced  ·  Segregation of duties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6F5F3"/>
          </a:solidFill>
          <a:ln w="12700">
            <a:solidFill>
              <a:srgbClr val="A9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76272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RUNTIME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(Next.js app)  ·  Google Cloud Run (AI Gateway container)  ·  Neon Postgres (serverless)  ·  Upstash Redis (rate limit, presence, SSE)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EFF3FF"/>
          </a:solidFill>
          <a:ln w="15240">
            <a:solidFill>
              <a:srgbClr val="C3D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94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Next.js 16, React 19, TypeScript, Tailwind v4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API route per pipeline stage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Prisma ORM -&gt; Neon Postgres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Real-time SSE broadcast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13632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3" name="Shape 11"/>
          <p:cNvSpPr/>
          <p:nvPr/>
        </p:nvSpPr>
        <p:spPr>
          <a:xfrm>
            <a:off x="4197096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0FBFA"/>
          </a:solidFill>
          <a:ln w="15240">
            <a:solidFill>
              <a:srgbClr val="A9DE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25696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 &amp; AGENTS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25696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Self-hosted LiteLLM Proxy (Cloud Run)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Anthropic -&gt; Groq -&gt; Gemini -&gt; OpenRouter fallback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LangGraph + LangChain sub-agent execution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Token-by-token streaming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53528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BF3EA"/>
          </a:solidFill>
          <a:ln w="15240">
            <a:solidFill>
              <a:srgbClr val="EBC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65592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KNOWLEDGE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65592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Pinecone vector index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Cohere embeddings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governance docs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in-app help docs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3EFFB"/>
          </a:solidFill>
          <a:ln w="15240">
            <a:solidFill>
              <a:srgbClr val="D6C9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&amp; AUDIT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RBAC  ·  Scoped API keys (read/write)  ·  SHA-256 hash-chained tamper-evident audit log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9924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DEEEE"/>
          </a:solidFill>
          <a:ln w="15240">
            <a:solidFill>
              <a:srgbClr val="F3C6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4244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Observability dashboard  ·  Slack notifications  ·  Production error monitoring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architecture diagram — straight from the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filterable by real request flow, visible to Developer/Admin roles — not a static export made for this deck.</a:t>
            </a:r>
            <a:endParaRPr lang="en-US" sz="1300" dirty="0"/>
          </a:p>
        </p:txBody>
      </p:sp>
      <p:pic>
        <p:nvPicPr>
          <p:cNvPr id="5" name="Image 0" descr="C:\Users\prasa\AppData\Local\Temp\claude\C--Users-prasa-Downloads-Momentum\9a4d1695-af03-42d3-8bf3-f20cd34f2dc4\scratchpad\08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476" y="1828800"/>
            <a:ext cx="81280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2A3A">
                <a:alpha val="2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roles, one shared record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Portfolio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 an idea into a governed, documented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Steward / Architect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Recommendation, Guide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architecture against real constraints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Gate, ADR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controls; can halt a live execution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System, Observability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approved use cases; wire up webhooks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Board (ARB)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(Critical tier)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sign-off nothing else can substitute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access, every role's 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BUSINESS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projection — live numbers off this platform's own database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directly to the outcome categories a real adoption case needs to justify itself against: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31.8 hr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approval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Gate cleared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52344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889504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reuse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9504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sessions that avoided a rebuild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47488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$399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184648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delivery cost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84648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cost saved vs. declared 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42632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42632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79792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compliance exposure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79792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caught &amp; logged to audit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37776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37776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 hr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774936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production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74936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first execution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real agent executions · 58 sub-agent steps (100% settled) · 13 real RAG searches (100% hit rate) — these figures grow with every real use case run through the platform, never reset or curated for presentation.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 isn't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GENUINELY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database, real auth (local + Google SSO)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tool-calling agents, token-by-token streaming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live multi-user sync, no refresh needed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 — audit log, allowlist, kill-switch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deployment: Vercel + Cloud Run + Neon + Redis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DELIBERATELY OUT OF SCOPE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external system integrations — that's the org's own engineering work, informed by the ADR this platform produces.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EGPA's own execution engine is a validation sandbox, not a production host — it validates the recommended pattern and governance behavior, not a live workload.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invented dates — sequenced by what deepens governance first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single-team roadmap can't credibly commit to a quarter, so this is grouped by sequencing, not promised timing.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1A9C9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267712"/>
            <a:ext cx="3611880" cy="246888"/>
          </a:xfrm>
          <a:prstGeom prst="rect">
            <a:avLst/>
          </a:prstGeom>
          <a:solidFill>
            <a:srgbClr val="1A9C9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— MVP, LIVE TODAY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pipeline, Discovery through Observability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governance: kill-switch, audit log, PII redaction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multi-tenancy, SSO, AI Gateway with fallback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Preflight-check + reconciliation APIs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853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1" name="Shape 9"/>
          <p:cNvSpPr/>
          <p:nvPr/>
        </p:nvSpPr>
        <p:spPr>
          <a:xfrm>
            <a:off x="4288536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0A2A43"/>
          </a:solidFill>
          <a:ln/>
        </p:spPr>
      </p:sp>
      <p:sp>
        <p:nvSpPr>
          <p:cNvPr id="12" name="Shape 10"/>
          <p:cNvSpPr/>
          <p:nvPr/>
        </p:nvSpPr>
        <p:spPr>
          <a:xfrm>
            <a:off x="4288536" y="2267712"/>
            <a:ext cx="3611880" cy="246888"/>
          </a:xfrm>
          <a:prstGeom prst="rect">
            <a:avLst/>
          </a:prstGeom>
          <a:solidFill>
            <a:srgbClr val="0A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— DEEPENS GOVERNANCE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89704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templates per regulatory regime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PII patterns per org/region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citation mapping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workflow tied to the kill-switch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portfolio risk rollup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19872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9872" y="2267712"/>
            <a:ext cx="3611880" cy="2468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&amp; HARDENING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0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reference architecture templates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Vendor/model blast-radius reverse lookup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approval workflows per org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test coverage, accessibility audit, SCIM, per-tenant branding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as the fast path,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bottleneck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assessment, sign-off, and audit — enforced, automatic parts of the same pipeline a team already uses to design their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257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running system — independently verifiable end to end.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2026-08-17T15:17:55Z</dcterms:created>
  <dcterms:modified xsi:type="dcterms:W3CDTF">2026-08-17T15:17:55Z</dcterms:modified>
</cp:coreProperties>
</file>